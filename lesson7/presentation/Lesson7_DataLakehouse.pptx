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8421" y="1934319"/>
            <a:ext cx="7567008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12"/>
              </a:spcBef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DATA LAKEHOUSE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88421" y="2712095"/>
            <a:ext cx="756700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60"/>
              </a:spcBef>
              <a:spcAft>
                <a:spcPts val="4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End-to-End Big Data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8037" y="4565749"/>
            <a:ext cx="15380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0227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241227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Big Data Architecture Patterns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698427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Lesson 7 System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4901" y="2155627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Medallion 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901" y="2612827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Technology Stack and Design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4901" y="3070027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Summary and Key Takeaways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87326"/>
            <a:ext cx="2540050" cy="39022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77826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62"/>
              </a:spcAft>
              <a:buNone/>
            </a:pPr>
            <a:r>
              <a:rPr lang="en-US" sz="14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8450" y="1534864"/>
            <a:ext cx="220223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approach with two layers: Batch for accuracy/history and Speed for real-time.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98450" y="2194917"/>
            <a:ext cx="22022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 Robust, Fault-tolerant, Handles complex/historic data well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8450" y="2677269"/>
            <a:ext cx="22022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 Complex to maintain (2 codebases), Data duplication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01901" y="987326"/>
            <a:ext cx="2540050" cy="39022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92401" y="1177826"/>
            <a:ext cx="22022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62"/>
              </a:spcAft>
              <a:buNone/>
            </a:pPr>
            <a:r>
              <a:rPr lang="en-US" sz="14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Kappa Architecture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92401" y="1534864"/>
            <a:ext cx="220223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Treats everything as a stream. Single processing path for both real-time and historical replay.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92401" y="2194917"/>
            <a:ext cx="22022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 Simpler (1 codebase), Real-time native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2401" y="2677269"/>
            <a:ext cx="22022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 Complex reprocessing, Requires powerful stream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51" y="987326"/>
            <a:ext cx="2540050" cy="390227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86351" y="1177826"/>
            <a:ext cx="220223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162"/>
              </a:spcAft>
              <a:buNone/>
            </a:pPr>
            <a:r>
              <a:rPr lang="en-US" sz="14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Lakehouse (Our Choice)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6351" y="1744414"/>
            <a:ext cx="2202231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Data Lake storage flexibility with Data Warehouse management and ACID transactions.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86351" y="2404467"/>
            <a:ext cx="2202231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PROS: Best of both worlds, Low cost storage, High performance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6351" y="2886819"/>
            <a:ext cx="2202231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CONS: Requires ecosystem maturity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52400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Flowcharts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1000" y="790575"/>
            <a:ext cx="2667000" cy="41624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819" y="917525"/>
            <a:ext cx="24613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2175" y="1215926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933" y="1301651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82651" y="1565077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2175" y="1771352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933" y="1857077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682651" y="2120503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2326779"/>
            <a:ext cx="1143000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725" y="2412504"/>
            <a:ext cx="887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777901" y="2326779"/>
            <a:ext cx="1143000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05676" y="2412504"/>
            <a:ext cx="887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Layer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682651" y="2675930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2175" y="2882205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6933" y="2967930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Layer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82651" y="3231356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2175" y="3437632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933" y="3523357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38500" y="790575"/>
            <a:ext cx="2667000" cy="41624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41319" y="917525"/>
            <a:ext cx="24613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Kappa Architecture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49675" y="1215926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64433" y="1301651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40151" y="1565077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49675" y="1771352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64433" y="1857077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Queue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40151" y="2120503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49675" y="2326779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64433" y="2412504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40151" y="2675930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49675" y="2882205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464433" y="2967930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40151" y="3231356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49675" y="3437632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64433" y="3523357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96000" y="790575"/>
            <a:ext cx="2667000" cy="416242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98819" y="917525"/>
            <a:ext cx="24613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(Lakehouse)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07175" y="1215926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CD7F32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21933" y="1301651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(Raw)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97651" y="1565077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07175" y="1771352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95A5A6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21933" y="1857077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 (Cleaned)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97651" y="2120503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07175" y="2326779"/>
            <a:ext cx="2444651" cy="285750"/>
          </a:xfrm>
          <a:prstGeom prst="roundRect">
            <a:avLst>
              <a:gd name="adj" fmla="val 17778"/>
            </a:avLst>
          </a:prstGeom>
          <a:solidFill>
            <a:srgbClr val="F39C12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321933" y="2412504"/>
            <a:ext cx="221513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 (Aggregated)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397651" y="2675930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22950" y="2882205"/>
            <a:ext cx="1143000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350725" y="2967930"/>
            <a:ext cx="887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ETL/ELT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492901" y="2882205"/>
            <a:ext cx="1143000" cy="285750"/>
          </a:xfrm>
          <a:prstGeom prst="roundRect">
            <a:avLst>
              <a:gd name="adj" fmla="val 17778"/>
            </a:avLst>
          </a:prstGeom>
          <a:solidFill>
            <a:srgbClr val="E8F4FD"/>
          </a:solidFill>
          <a:ln w="9525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620676" y="2967930"/>
            <a:ext cx="887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Tools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2478137"/>
            <a:ext cx="1689050" cy="920651"/>
          </a:xfrm>
          <a:prstGeom prst="roundRect">
            <a:avLst>
              <a:gd name="adj" fmla="val 11036"/>
            </a:avLst>
          </a:prstGeom>
          <a:solidFill>
            <a:srgbClr val="F8F9FA"/>
          </a:solidFill>
          <a:ln w="19050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04801" y="268768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4801" y="2922538"/>
            <a:ext cx="12953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 (Pagila DB)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09068" y="2790825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654052" y="2478137"/>
            <a:ext cx="1689050" cy="920651"/>
          </a:xfrm>
          <a:prstGeom prst="roundRect">
            <a:avLst>
              <a:gd name="adj" fmla="val 11036"/>
            </a:avLst>
          </a:prstGeom>
          <a:solidFill>
            <a:srgbClr val="F8F9FA"/>
          </a:solidFill>
          <a:ln w="19050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50902" y="268768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50902" y="2922538"/>
            <a:ext cx="12953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Engine (Extract/Load)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55170" y="2790825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154" y="2478137"/>
            <a:ext cx="1689050" cy="920651"/>
          </a:xfrm>
          <a:prstGeom prst="roundRect">
            <a:avLst>
              <a:gd name="adj" fmla="val 11036"/>
            </a:avLst>
          </a:prstGeom>
          <a:solidFill>
            <a:srgbClr val="F8F9FA"/>
          </a:solidFill>
          <a:ln w="19050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97004" y="268768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97004" y="2922538"/>
            <a:ext cx="12953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(S3 Compatible)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01271" y="2790825"/>
            <a:ext cx="23757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AC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6255" y="2478137"/>
            <a:ext cx="1689050" cy="920651"/>
          </a:xfrm>
          <a:prstGeom prst="roundRect">
            <a:avLst>
              <a:gd name="adj" fmla="val 11036"/>
            </a:avLst>
          </a:prstGeom>
          <a:solidFill>
            <a:srgbClr val="F8F9FA"/>
          </a:solidFill>
          <a:ln w="19050">
            <a:solidFill>
              <a:srgbClr val="2A529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143106" y="2687687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43106" y="2922538"/>
            <a:ext cx="12953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SQL (Query Engine)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Medallion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2634" y="1414611"/>
            <a:ext cx="2539752" cy="3047702"/>
          </a:xfrm>
          <a:prstGeom prst="roundRect">
            <a:avLst>
              <a:gd name="adj" fmla="val 6001"/>
            </a:avLst>
          </a:prstGeom>
          <a:solidFill>
            <a:srgbClr val="CD7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67288" y="2169021"/>
            <a:ext cx="7902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49718" y="2702272"/>
            <a:ext cx="625435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6215" y="3177034"/>
            <a:ext cx="207258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 as-is from source (Parquet format)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01901" y="1414611"/>
            <a:ext cx="2539752" cy="3047702"/>
          </a:xfrm>
          <a:prstGeom prst="roundRect">
            <a:avLst>
              <a:gd name="adj" fmla="val 6001"/>
            </a:avLst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54125" y="2169021"/>
            <a:ext cx="6353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10591" y="2702272"/>
            <a:ext cx="132237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and Filtered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35482" y="3177034"/>
            <a:ext cx="207258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Deduplicated, types fixed, Enterprise 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11168" y="1414611"/>
            <a:ext cx="2539752" cy="3047702"/>
          </a:xfrm>
          <a:prstGeom prst="roundRect">
            <a:avLst>
              <a:gd name="adj" fmla="val 6001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15463" y="2169021"/>
            <a:ext cx="531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912691" y="2702272"/>
            <a:ext cx="736556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44749" y="3177034"/>
            <a:ext cx="207258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Business-level metrics ready for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33425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0500"/>
            <a:ext cx="829066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Considerations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1283047"/>
            <a:ext cx="3614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Partitioning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1648123"/>
            <a:ext cx="3614166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Time-based: Partition by Year/Month/Day for efficient time-travel queries.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158603"/>
            <a:ext cx="361416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Hash/Range: Distribute data evenly to prevent hot spots.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59201" y="1283047"/>
            <a:ext cx="3614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Compression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59201" y="1648123"/>
            <a:ext cx="361416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Snappy: Fast read/write, usually default for Parquet.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59201" y="1935063"/>
            <a:ext cx="361416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ZSTD: Higher compression ratio, excellent for archival.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4901" y="3297585"/>
            <a:ext cx="3614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4901" y="3662660"/>
            <a:ext cx="3614166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Cache: Keep intermediate DataFrames in memory.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4901" y="4173141"/>
            <a:ext cx="361416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Cache: Cache final aggregated tables for BI tools.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59201" y="3297585"/>
            <a:ext cx="361416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28"/>
              </a:spcBef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2A52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Formats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9201" y="3662660"/>
            <a:ext cx="3614166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Parquet: Columnar storage, ideal for analytics (OLAP).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59201" y="3949601"/>
            <a:ext cx="3614166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(Optional): Adds ACID transactions to Parquet.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7: Building a Data Lakehouse</dc:title>
  <dc:subject>Data Engineering Course</dc:subject>
  <dc:creator>Phuc Huynh</dc:creator>
  <cp:lastModifiedBy>Phuc Huynh</cp:lastModifiedBy>
  <cp:revision>1</cp:revision>
  <dcterms:created xsi:type="dcterms:W3CDTF">2026-01-20T09:24:27Z</dcterms:created>
  <dcterms:modified xsi:type="dcterms:W3CDTF">2026-01-20T09:24:27Z</dcterms:modified>
</cp:coreProperties>
</file>